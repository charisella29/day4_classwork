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27" r:id="rId2"/>
    <p:sldId id="400" r:id="rId3"/>
    <p:sldId id="428" r:id="rId4"/>
    <p:sldId id="426" r:id="rId5"/>
    <p:sldId id="433" r:id="rId6"/>
    <p:sldId id="432" r:id="rId7"/>
    <p:sldId id="401" r:id="rId8"/>
    <p:sldId id="402" r:id="rId9"/>
    <p:sldId id="431" r:id="rId10"/>
    <p:sldId id="435" r:id="rId11"/>
    <p:sldId id="429" r:id="rId12"/>
    <p:sldId id="403" r:id="rId13"/>
    <p:sldId id="404" r:id="rId14"/>
    <p:sldId id="434" r:id="rId15"/>
    <p:sldId id="405" r:id="rId16"/>
    <p:sldId id="430" r:id="rId17"/>
    <p:sldId id="406" r:id="rId18"/>
    <p:sldId id="440" r:id="rId19"/>
    <p:sldId id="407" r:id="rId20"/>
    <p:sldId id="436" r:id="rId21"/>
    <p:sldId id="437" r:id="rId22"/>
    <p:sldId id="438" r:id="rId23"/>
    <p:sldId id="439" r:id="rId24"/>
    <p:sldId id="41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32315E-5770-4958-8BC6-2D51BCEE0A2F}">
          <p14:sldIdLst>
            <p14:sldId id="427"/>
            <p14:sldId id="400"/>
            <p14:sldId id="428"/>
            <p14:sldId id="426"/>
            <p14:sldId id="433"/>
            <p14:sldId id="432"/>
            <p14:sldId id="401"/>
            <p14:sldId id="402"/>
            <p14:sldId id="431"/>
            <p14:sldId id="435"/>
            <p14:sldId id="429"/>
            <p14:sldId id="403"/>
            <p14:sldId id="404"/>
            <p14:sldId id="434"/>
            <p14:sldId id="405"/>
            <p14:sldId id="430"/>
            <p14:sldId id="406"/>
            <p14:sldId id="440"/>
            <p14:sldId id="407"/>
            <p14:sldId id="436"/>
            <p14:sldId id="437"/>
            <p14:sldId id="438"/>
            <p14:sldId id="439"/>
          </p14:sldIdLst>
        </p14:section>
        <p14:section name="Untitled Section" id="{B573BDFD-338E-403F-B16A-029B9B155535}">
          <p14:sldIdLst>
            <p14:sldId id="4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CC0000"/>
    <a:srgbClr val="1313BF"/>
    <a:srgbClr val="0E0585"/>
    <a:srgbClr val="0F0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0133D-1A36-42F4-8002-F2AF938AA875}" type="datetimeFigureOut">
              <a:rPr lang="en-NG" smtClean="0"/>
              <a:t>21/09/2025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E3F2F-7071-4571-9DF5-B529DF7F37D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2318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Javaplus Innovations Ltd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251520" y="177424"/>
            <a:ext cx="45719" cy="6597352"/>
          </a:xfrm>
          <a:prstGeom prst="rect">
            <a:avLst/>
          </a:prstGeom>
          <a:solidFill>
            <a:srgbClr val="0F0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Javaplus Innovations Ltd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BA362-0516-41C9-B9FE-026B17EDD9F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290CF-0663-4358-ADDF-461149DA3CED}" type="datetimeFigureOut">
              <a:rPr lang="en-GB" smtClean="0"/>
              <a:pPr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Javaplus Innovations Ltd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BA362-0516-41C9-B9FE-026B17EDD9F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606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1484784"/>
            <a:ext cx="9144000" cy="72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251520" y="260648"/>
            <a:ext cx="72008" cy="6597352"/>
          </a:xfrm>
          <a:prstGeom prst="rect">
            <a:avLst/>
          </a:prstGeom>
          <a:solidFill>
            <a:srgbClr val="0F0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020272" y="476672"/>
            <a:ext cx="1728192" cy="722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0" y="6763680"/>
            <a:ext cx="9144000" cy="1886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D431-DD38-0812-017D-CCC1496C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72C2-74EE-1988-4761-2E294A663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564904"/>
            <a:ext cx="8229600" cy="26928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b="1" dirty="0"/>
              <a:t>Introduction </a:t>
            </a:r>
          </a:p>
          <a:p>
            <a:pPr marL="0" indent="0" algn="ctr">
              <a:buNone/>
            </a:pPr>
            <a:r>
              <a:rPr lang="en-GB" sz="4400" b="1" dirty="0"/>
              <a:t>to </a:t>
            </a:r>
          </a:p>
          <a:p>
            <a:pPr marL="0" indent="0" algn="ctr">
              <a:buNone/>
            </a:pPr>
            <a:r>
              <a:rPr lang="en-GB" sz="4400" b="1" dirty="0">
                <a:solidFill>
                  <a:srgbClr val="000066"/>
                </a:solidFill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277569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/>
              <a:t>Recap on Day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en-US" dirty="0" err="1"/>
              <a:t>Dockerfile</a:t>
            </a:r>
            <a:r>
              <a:rPr lang="en-US" dirty="0"/>
              <a:t> best practices (layers, caching, .</a:t>
            </a:r>
            <a:r>
              <a:rPr lang="en-US" dirty="0" err="1"/>
              <a:t>dockerignore</a:t>
            </a:r>
            <a:r>
              <a:rPr lang="en-US" dirty="0"/>
              <a:t>) </a:t>
            </a:r>
          </a:p>
          <a:p>
            <a:r>
              <a:rPr lang="en-US" dirty="0"/>
              <a:t>Advanced concepts: volumes, networking, </a:t>
            </a:r>
            <a:r>
              <a:rPr lang="en-US" dirty="0" err="1"/>
              <a:t>Dockerfile</a:t>
            </a:r>
            <a:r>
              <a:rPr lang="en-US" dirty="0"/>
              <a:t> optimization </a:t>
            </a:r>
          </a:p>
          <a:p>
            <a:r>
              <a:rPr lang="en-US" dirty="0"/>
              <a:t>Docker Compose concepts: multi-container orchestration </a:t>
            </a:r>
          </a:p>
          <a:p>
            <a:r>
              <a:rPr lang="en-US" dirty="0"/>
              <a:t>Understanding Docker Compose ( services, YAML configuration, and container scaling)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FC5A-3159-F76E-0DC2-CAEE4C7F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75C4-3F83-C896-A921-5AACA09D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2E41-A484-4380-3415-0BB6C160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fundamentals: Pods, Nodes, Deployments  </a:t>
            </a:r>
          </a:p>
          <a:p>
            <a:r>
              <a:rPr lang="en-US" dirty="0"/>
              <a:t>Introduction to </a:t>
            </a:r>
            <a:r>
              <a:rPr lang="en-US" dirty="0" err="1"/>
              <a:t>kubectl</a:t>
            </a:r>
            <a:r>
              <a:rPr lang="en-US" dirty="0"/>
              <a:t> commands and Kubernetes cluster architecture </a:t>
            </a:r>
          </a:p>
          <a:p>
            <a:r>
              <a:rPr lang="en-US" dirty="0"/>
              <a:t>Core objects (</a:t>
            </a:r>
            <a:r>
              <a:rPr lang="en-US" dirty="0" err="1"/>
              <a:t>ConfigMaps</a:t>
            </a:r>
            <a:r>
              <a:rPr lang="en-US" dirty="0"/>
              <a:t>, Secrets, Persistent Volumes, Namespaces) </a:t>
            </a:r>
          </a:p>
          <a:p>
            <a:r>
              <a:rPr lang="en-US" dirty="0"/>
              <a:t>Minikube vs Kind vs Cloud clusters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538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FCC0-360A-DD66-BE3A-39324164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7349-6750-EB2F-D56F-94F21FD4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Kubernetes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9FF3C-4279-3DA9-81E0-DE038684C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Pods run your containerized applications. </a:t>
            </a:r>
          </a:p>
          <a:p>
            <a:r>
              <a:rPr lang="en-US" dirty="0"/>
              <a:t>Nodes provide the underlying infrastructure to host these Pods. </a:t>
            </a:r>
          </a:p>
          <a:p>
            <a:r>
              <a:rPr lang="en-US" dirty="0"/>
              <a:t>Deployments manage and orchestrate the creation, scaling, and updates of Pods, ensuring the application's desired state is maintained across the cluster of Nodes. </a:t>
            </a:r>
          </a:p>
          <a:p>
            <a:r>
              <a:rPr lang="en-US" dirty="0"/>
              <a:t>This layered approach allows for robust, scalable, and self-healing application deployments in a Kubernetes environment.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16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1BD6-CC69-FFBE-5D45-FCBB3A94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D0B1-6908-A9BA-7988-1C9FBF7A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Kubernetes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A38DA-DC3F-F541-3FF2-6755E8FB543C}"/>
              </a:ext>
            </a:extLst>
          </p:cNvPr>
          <p:cNvSpPr/>
          <p:nvPr/>
        </p:nvSpPr>
        <p:spPr>
          <a:xfrm>
            <a:off x="1259632" y="3408040"/>
            <a:ext cx="199945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  <a:endParaRPr lang="en-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7FBF8-FC34-8BE6-8DE6-14DB61CFB81E}"/>
              </a:ext>
            </a:extLst>
          </p:cNvPr>
          <p:cNvSpPr/>
          <p:nvPr/>
        </p:nvSpPr>
        <p:spPr>
          <a:xfrm>
            <a:off x="3068216" y="2069232"/>
            <a:ext cx="3312368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Kubernetes Manager</a:t>
            </a:r>
            <a:endParaRPr lang="en-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9C6F7C-FA65-28F2-87B6-0C70A19A6584}"/>
              </a:ext>
            </a:extLst>
          </p:cNvPr>
          <p:cNvSpPr/>
          <p:nvPr/>
        </p:nvSpPr>
        <p:spPr>
          <a:xfrm>
            <a:off x="6084168" y="3408040"/>
            <a:ext cx="199945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  <a:endParaRPr lang="en-N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01E06-71D4-1D8E-4CAF-35EECBAC4F8D}"/>
              </a:ext>
            </a:extLst>
          </p:cNvPr>
          <p:cNvSpPr/>
          <p:nvPr/>
        </p:nvSpPr>
        <p:spPr>
          <a:xfrm>
            <a:off x="827584" y="4653136"/>
            <a:ext cx="122413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</a:t>
            </a:r>
            <a:endParaRPr lang="en-N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A3DB6-F2AA-29CA-0EEB-EAC1BD60515E}"/>
              </a:ext>
            </a:extLst>
          </p:cNvPr>
          <p:cNvSpPr/>
          <p:nvPr/>
        </p:nvSpPr>
        <p:spPr>
          <a:xfrm>
            <a:off x="2483768" y="4653136"/>
            <a:ext cx="122413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</a:t>
            </a:r>
            <a:endParaRPr lang="en-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6EB41B-75A2-5C25-2A63-00D7F551D5AD}"/>
              </a:ext>
            </a:extLst>
          </p:cNvPr>
          <p:cNvSpPr/>
          <p:nvPr/>
        </p:nvSpPr>
        <p:spPr>
          <a:xfrm>
            <a:off x="5652120" y="4653136"/>
            <a:ext cx="122413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</a:t>
            </a:r>
            <a:endParaRPr lang="en-N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906865-AE71-4A0E-E917-93D12A977DC9}"/>
              </a:ext>
            </a:extLst>
          </p:cNvPr>
          <p:cNvSpPr/>
          <p:nvPr/>
        </p:nvSpPr>
        <p:spPr>
          <a:xfrm>
            <a:off x="7308304" y="4653136"/>
            <a:ext cx="1224136" cy="8640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pod</a:t>
            </a:r>
            <a:endParaRPr lang="en-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42FEB-6016-008B-AABF-9E49D32D8A44}"/>
              </a:ext>
            </a:extLst>
          </p:cNvPr>
          <p:cNvSpPr/>
          <p:nvPr/>
        </p:nvSpPr>
        <p:spPr>
          <a:xfrm>
            <a:off x="647564" y="5830490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F1D84-ED06-36BC-642A-639FAD2BA50F}"/>
              </a:ext>
            </a:extLst>
          </p:cNvPr>
          <p:cNvSpPr/>
          <p:nvPr/>
        </p:nvSpPr>
        <p:spPr>
          <a:xfrm>
            <a:off x="2483768" y="5756347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76E53-FE69-0FFB-CEC9-D53396D652C1}"/>
              </a:ext>
            </a:extLst>
          </p:cNvPr>
          <p:cNvSpPr/>
          <p:nvPr/>
        </p:nvSpPr>
        <p:spPr>
          <a:xfrm>
            <a:off x="1475656" y="5830490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83ADD-608F-8F7E-6F7F-7D10E86979C7}"/>
              </a:ext>
            </a:extLst>
          </p:cNvPr>
          <p:cNvSpPr/>
          <p:nvPr/>
        </p:nvSpPr>
        <p:spPr>
          <a:xfrm>
            <a:off x="3165410" y="5785970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130EA8-DE75-035D-1FC7-23C48257D277}"/>
              </a:ext>
            </a:extLst>
          </p:cNvPr>
          <p:cNvSpPr/>
          <p:nvPr/>
        </p:nvSpPr>
        <p:spPr>
          <a:xfrm>
            <a:off x="6415736" y="5768209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AC3661-CEF8-76B3-2483-51640E2F0A69}"/>
              </a:ext>
            </a:extLst>
          </p:cNvPr>
          <p:cNvSpPr/>
          <p:nvPr/>
        </p:nvSpPr>
        <p:spPr>
          <a:xfrm>
            <a:off x="8062748" y="5771152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A3DCC2-12B5-DF4F-B2F1-F38A8D35EBA2}"/>
              </a:ext>
            </a:extLst>
          </p:cNvPr>
          <p:cNvSpPr/>
          <p:nvPr/>
        </p:nvSpPr>
        <p:spPr>
          <a:xfrm>
            <a:off x="5652120" y="5775085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5DB7E5-F80F-ABA6-6A5E-6D50AC9003C7}"/>
              </a:ext>
            </a:extLst>
          </p:cNvPr>
          <p:cNvSpPr/>
          <p:nvPr/>
        </p:nvSpPr>
        <p:spPr>
          <a:xfrm>
            <a:off x="7316486" y="5774095"/>
            <a:ext cx="540060" cy="5508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A38F65-CFD7-8D37-0EDF-DC38497D98B1}"/>
              </a:ext>
            </a:extLst>
          </p:cNvPr>
          <p:cNvCxnSpPr/>
          <p:nvPr/>
        </p:nvCxnSpPr>
        <p:spPr>
          <a:xfrm>
            <a:off x="2195736" y="3140968"/>
            <a:ext cx="48881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6ADC80D-6F4D-FDFF-9BE9-ED029793623D}"/>
              </a:ext>
            </a:extLst>
          </p:cNvPr>
          <p:cNvCxnSpPr>
            <a:cxnSpLocks/>
          </p:cNvCxnSpPr>
          <p:nvPr/>
        </p:nvCxnSpPr>
        <p:spPr>
          <a:xfrm>
            <a:off x="2195736" y="3140968"/>
            <a:ext cx="0" cy="267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B531D7-621F-CF3F-F5FC-B165FCBE40E6}"/>
              </a:ext>
            </a:extLst>
          </p:cNvPr>
          <p:cNvCxnSpPr>
            <a:cxnSpLocks/>
          </p:cNvCxnSpPr>
          <p:nvPr/>
        </p:nvCxnSpPr>
        <p:spPr>
          <a:xfrm>
            <a:off x="7083896" y="3140968"/>
            <a:ext cx="0" cy="267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990C8B-D627-D665-D634-3356BBC5DA9E}"/>
              </a:ext>
            </a:extLst>
          </p:cNvPr>
          <p:cNvCxnSpPr>
            <a:stCxn id="7" idx="2"/>
          </p:cNvCxnSpPr>
          <p:nvPr/>
        </p:nvCxnSpPr>
        <p:spPr>
          <a:xfrm>
            <a:off x="4724400" y="2933328"/>
            <a:ext cx="0" cy="207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1F9538-8405-6956-D018-2363F1CF5301}"/>
              </a:ext>
            </a:extLst>
          </p:cNvPr>
          <p:cNvCxnSpPr/>
          <p:nvPr/>
        </p:nvCxnSpPr>
        <p:spPr>
          <a:xfrm>
            <a:off x="1403648" y="4437112"/>
            <a:ext cx="1584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2DB98D-B3B0-62A9-51DD-9A2C553AB093}"/>
              </a:ext>
            </a:extLst>
          </p:cNvPr>
          <p:cNvCxnSpPr>
            <a:cxnSpLocks/>
          </p:cNvCxnSpPr>
          <p:nvPr/>
        </p:nvCxnSpPr>
        <p:spPr>
          <a:xfrm>
            <a:off x="1403648" y="443711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28569F-CD20-FBBA-9524-46B511710834}"/>
              </a:ext>
            </a:extLst>
          </p:cNvPr>
          <p:cNvCxnSpPr>
            <a:cxnSpLocks/>
          </p:cNvCxnSpPr>
          <p:nvPr/>
        </p:nvCxnSpPr>
        <p:spPr>
          <a:xfrm>
            <a:off x="2987824" y="443711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2EA113-B327-2D24-4454-FE2039FF449E}"/>
              </a:ext>
            </a:extLst>
          </p:cNvPr>
          <p:cNvCxnSpPr>
            <a:cxnSpLocks/>
          </p:cNvCxnSpPr>
          <p:nvPr/>
        </p:nvCxnSpPr>
        <p:spPr>
          <a:xfrm>
            <a:off x="2267744" y="4221088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3C4DFA-DE84-CA74-3A04-B2B81C17863A}"/>
              </a:ext>
            </a:extLst>
          </p:cNvPr>
          <p:cNvCxnSpPr/>
          <p:nvPr/>
        </p:nvCxnSpPr>
        <p:spPr>
          <a:xfrm>
            <a:off x="6300192" y="4437112"/>
            <a:ext cx="15841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BC8F314-9D10-1A07-75F2-5EABD03CDD16}"/>
              </a:ext>
            </a:extLst>
          </p:cNvPr>
          <p:cNvCxnSpPr>
            <a:cxnSpLocks/>
          </p:cNvCxnSpPr>
          <p:nvPr/>
        </p:nvCxnSpPr>
        <p:spPr>
          <a:xfrm>
            <a:off x="7164288" y="4221088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CB6731-8F17-5939-3D75-7C06B9F60F59}"/>
              </a:ext>
            </a:extLst>
          </p:cNvPr>
          <p:cNvCxnSpPr>
            <a:cxnSpLocks/>
          </p:cNvCxnSpPr>
          <p:nvPr/>
        </p:nvCxnSpPr>
        <p:spPr>
          <a:xfrm>
            <a:off x="7884368" y="443711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483975-217D-AE39-3DBC-E8BB4BA0D56E}"/>
              </a:ext>
            </a:extLst>
          </p:cNvPr>
          <p:cNvCxnSpPr>
            <a:cxnSpLocks/>
          </p:cNvCxnSpPr>
          <p:nvPr/>
        </p:nvCxnSpPr>
        <p:spPr>
          <a:xfrm>
            <a:off x="6300192" y="443711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1BB5440-605B-8683-6E80-0597496C6169}"/>
              </a:ext>
            </a:extLst>
          </p:cNvPr>
          <p:cNvCxnSpPr>
            <a:cxnSpLocks/>
          </p:cNvCxnSpPr>
          <p:nvPr/>
        </p:nvCxnSpPr>
        <p:spPr>
          <a:xfrm>
            <a:off x="3419872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ECB18F5-7DCD-CB83-C837-9C3CD91F441F}"/>
              </a:ext>
            </a:extLst>
          </p:cNvPr>
          <p:cNvCxnSpPr>
            <a:cxnSpLocks/>
          </p:cNvCxnSpPr>
          <p:nvPr/>
        </p:nvCxnSpPr>
        <p:spPr>
          <a:xfrm>
            <a:off x="2771800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756651-5F32-3669-90CC-F9115A0C72B1}"/>
              </a:ext>
            </a:extLst>
          </p:cNvPr>
          <p:cNvCxnSpPr>
            <a:cxnSpLocks/>
          </p:cNvCxnSpPr>
          <p:nvPr/>
        </p:nvCxnSpPr>
        <p:spPr>
          <a:xfrm>
            <a:off x="1763688" y="5589240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DD8CE7F-7D4A-E83A-3917-70EE5D69CEC6}"/>
              </a:ext>
            </a:extLst>
          </p:cNvPr>
          <p:cNvCxnSpPr>
            <a:cxnSpLocks/>
          </p:cNvCxnSpPr>
          <p:nvPr/>
        </p:nvCxnSpPr>
        <p:spPr>
          <a:xfrm>
            <a:off x="971600" y="5589240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5810CB-B336-5070-FCE7-FFF8B2B8D88D}"/>
              </a:ext>
            </a:extLst>
          </p:cNvPr>
          <p:cNvCxnSpPr>
            <a:cxnSpLocks/>
          </p:cNvCxnSpPr>
          <p:nvPr/>
        </p:nvCxnSpPr>
        <p:spPr>
          <a:xfrm>
            <a:off x="5940152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6835D3-9FFB-B74E-424A-AEAA395282C6}"/>
              </a:ext>
            </a:extLst>
          </p:cNvPr>
          <p:cNvCxnSpPr>
            <a:cxnSpLocks/>
          </p:cNvCxnSpPr>
          <p:nvPr/>
        </p:nvCxnSpPr>
        <p:spPr>
          <a:xfrm>
            <a:off x="6660232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9B168D-B2F2-B542-605B-4D2A4E29A62A}"/>
              </a:ext>
            </a:extLst>
          </p:cNvPr>
          <p:cNvCxnSpPr>
            <a:cxnSpLocks/>
          </p:cNvCxnSpPr>
          <p:nvPr/>
        </p:nvCxnSpPr>
        <p:spPr>
          <a:xfrm>
            <a:off x="7596336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448A54-1448-6341-4E8A-D71938560A9C}"/>
              </a:ext>
            </a:extLst>
          </p:cNvPr>
          <p:cNvCxnSpPr>
            <a:cxnSpLocks/>
          </p:cNvCxnSpPr>
          <p:nvPr/>
        </p:nvCxnSpPr>
        <p:spPr>
          <a:xfrm>
            <a:off x="8316416" y="5517232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7C1F0E2-B31D-0560-4165-9231F5678C9C}"/>
              </a:ext>
            </a:extLst>
          </p:cNvPr>
          <p:cNvSpPr txBox="1"/>
          <p:nvPr/>
        </p:nvSpPr>
        <p:spPr>
          <a:xfrm>
            <a:off x="1672517" y="6376467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Containers</a:t>
            </a:r>
            <a:endParaRPr lang="en-N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435D1-B8E6-7040-1236-53D0FD3704C9}"/>
              </a:ext>
            </a:extLst>
          </p:cNvPr>
          <p:cNvSpPr txBox="1"/>
          <p:nvPr/>
        </p:nvSpPr>
        <p:spPr>
          <a:xfrm>
            <a:off x="6540914" y="6344741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Containers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88455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7BA6-3684-166E-A868-140F3893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2E46-0962-65BE-36FC-DDC696B5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Kubernetes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2006-0B07-DF46-2C00-A94F3444A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Pods are the smallest deployable units in Kubernetes. </a:t>
            </a:r>
          </a:p>
          <a:p>
            <a:r>
              <a:rPr lang="en-US" dirty="0"/>
              <a:t>A Pod represents a single instance of an application and typically encapsulates one or more containers that are tightly coupled and share resources like network and storage. </a:t>
            </a:r>
          </a:p>
          <a:p>
            <a:r>
              <a:rPr lang="en-US" dirty="0"/>
              <a:t>All containers within a Pod share the same network namespace and can communicate with each other via localhost. </a:t>
            </a:r>
          </a:p>
          <a:p>
            <a:r>
              <a:rPr lang="en-US" dirty="0"/>
              <a:t>Pods are ephemeral; if a Pod fails or is terminated, Kubernetes will create a new one to maintain the desired state.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618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FC1D-5088-4785-3D6D-201BCD2E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2D00-219A-EB84-86EB-CEBC8D9A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/>
              <a:t>Kubernetes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435A0-9737-A2EB-A9B2-7515F0EBA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Nodes are the worker machines in a Kubernetes cluster where Pods are scheduled and run. </a:t>
            </a:r>
          </a:p>
          <a:p>
            <a:r>
              <a:rPr lang="en-US" dirty="0"/>
              <a:t>A Node can be a physical or virtual machine and contains the necessary components to execute and manage Pods, including a container runtime (like Docker or </a:t>
            </a:r>
            <a:r>
              <a:rPr lang="en-US" dirty="0" err="1"/>
              <a:t>containerd</a:t>
            </a:r>
            <a:r>
              <a:rPr lang="en-US" dirty="0"/>
              <a:t>), the </a:t>
            </a:r>
            <a:r>
              <a:rPr lang="en-US" dirty="0" err="1"/>
              <a:t>kubelet</a:t>
            </a:r>
            <a:r>
              <a:rPr lang="en-US" dirty="0"/>
              <a:t> (an agent that communicates with the Kubernetes control plane), and </a:t>
            </a:r>
            <a:r>
              <a:rPr lang="en-US" dirty="0" err="1"/>
              <a:t>kube</a:t>
            </a:r>
            <a:r>
              <a:rPr lang="en-US" dirty="0"/>
              <a:t>-proxy (which handles network proxying for services). </a:t>
            </a:r>
          </a:p>
          <a:p>
            <a:r>
              <a:rPr lang="en-US" dirty="0"/>
              <a:t>The Kubernetes control plane automatically schedules Pods across available Nodes based on resource requirements and other scheduling policies.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55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F9C9-B4B8-A8DA-4F51-434C12480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3530-5940-C4EB-3C53-57B90018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/>
              <a:t>Kubernetes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C83A-03D3-CDB0-542E-14EE11D3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Deployments are a higher-level abstraction that manage the lifecycle of Pods. </a:t>
            </a:r>
          </a:p>
          <a:p>
            <a:r>
              <a:rPr lang="en-US" dirty="0"/>
              <a:t>A Deployment defines the desired state for a set of replica Pods, ensuring that a specified number of Pod replicas are always running and available. </a:t>
            </a:r>
          </a:p>
        </p:txBody>
      </p:sp>
    </p:spTree>
    <p:extLst>
      <p:ext uri="{BB962C8B-B14F-4D97-AF65-F5344CB8AC3E}">
        <p14:creationId xmlns:p14="http://schemas.microsoft.com/office/powerpoint/2010/main" val="2454619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9B75-B59B-120D-B57E-47E71D3D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95F8-C70F-9F3E-BB39-22D108A7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/>
              <a:t>Kubernetes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4C5E9-57BD-5638-7883-D9C524C8D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Deployments handle tasks such as creating and updating Pods, performing rolling updates without downtime, and automatically recovering from Pod failures by recreating them. </a:t>
            </a:r>
          </a:p>
          <a:p>
            <a:r>
              <a:rPr lang="en-US" dirty="0"/>
              <a:t>When a Deployment is updated, it intelligently manages the transition to the new version, rolling back if necessary.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236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4120-02F2-D91D-E268-5E0C5406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102B-8E0E-BBC2-FC61-58E09829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 to </a:t>
            </a:r>
            <a:r>
              <a:rPr lang="en-US" sz="2800" dirty="0" err="1"/>
              <a:t>kubectl</a:t>
            </a:r>
            <a:r>
              <a:rPr lang="en-US" sz="2800" dirty="0"/>
              <a:t> commands and </a:t>
            </a:r>
            <a:br>
              <a:rPr lang="en-US" sz="2800" dirty="0"/>
            </a:br>
            <a:r>
              <a:rPr lang="en-US" sz="2800" dirty="0"/>
              <a:t>Kubernetes cluster architecture 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405F-A888-EF92-BF2E-486FD42C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kubectl</a:t>
            </a:r>
            <a:r>
              <a:rPr lang="en-US" dirty="0"/>
              <a:t> is the remote control for Kubernetes.</a:t>
            </a:r>
          </a:p>
          <a:p>
            <a:r>
              <a:rPr lang="en-US" dirty="0" err="1"/>
              <a:t>kubectl</a:t>
            </a:r>
            <a:r>
              <a:rPr lang="en-US" dirty="0"/>
              <a:t> is the command-line tool for interacting with a Kubernetes cluster. </a:t>
            </a:r>
          </a:p>
          <a:p>
            <a:r>
              <a:rPr lang="en-US" dirty="0"/>
              <a:t>It allows users to run commands against Kubernetes clusters, deploy applications, inspect and manage cluster resources, and view logs.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21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D7BF6-CC54-657E-6345-A29E3FC2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82A6-AA12-6B03-4DA1-1BB8E1FC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 to </a:t>
            </a:r>
            <a:r>
              <a:rPr lang="en-US" sz="2800" dirty="0" err="1"/>
              <a:t>kubectl</a:t>
            </a:r>
            <a:r>
              <a:rPr lang="en-US" sz="2800" dirty="0"/>
              <a:t> commands and </a:t>
            </a:r>
            <a:br>
              <a:rPr lang="en-US" sz="2800" dirty="0"/>
            </a:br>
            <a:r>
              <a:rPr lang="en-US" sz="2800" dirty="0"/>
              <a:t>Kubernetes cluster architecture </a:t>
            </a:r>
            <a:endParaRPr lang="en-GB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050EAC-1591-934B-2B6D-3CEBE2D1B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72" b="6335"/>
          <a:stretch>
            <a:fillRect/>
          </a:stretch>
        </p:blipFill>
        <p:spPr>
          <a:xfrm>
            <a:off x="539552" y="1844824"/>
            <a:ext cx="8229600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8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C1757-C685-CF60-B870-C7D4101D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8148-A2A4-1BA1-F569-37B27A70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Introduction to </a:t>
            </a:r>
            <a:r>
              <a:rPr lang="en-US" sz="2800" dirty="0" err="1"/>
              <a:t>kubectl</a:t>
            </a:r>
            <a:r>
              <a:rPr lang="en-US" sz="2800" dirty="0"/>
              <a:t> commands and </a:t>
            </a:r>
            <a:br>
              <a:rPr lang="en-US" sz="2800" dirty="0"/>
            </a:br>
            <a:r>
              <a:rPr lang="en-US" sz="2800" dirty="0"/>
              <a:t>Kubernetes cluster architecture 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D114-CFCB-180B-3B3B-245D89167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err="1"/>
              <a:t>kubectl</a:t>
            </a:r>
            <a:r>
              <a:rPr lang="en-GB" dirty="0"/>
              <a:t>  ---&gt;  API Server ---&gt; </a:t>
            </a:r>
            <a:r>
              <a:rPr lang="en-GB" dirty="0" err="1"/>
              <a:t>etcd</a:t>
            </a:r>
            <a:r>
              <a:rPr lang="en-GB" dirty="0"/>
              <a:t> (store state)</a:t>
            </a:r>
          </a:p>
          <a:p>
            <a:r>
              <a:rPr lang="en-GB" dirty="0"/>
              <a:t>                    |</a:t>
            </a:r>
          </a:p>
          <a:p>
            <a:r>
              <a:rPr lang="en-GB" dirty="0"/>
              <a:t>                    v</a:t>
            </a:r>
          </a:p>
          <a:p>
            <a:r>
              <a:rPr lang="en-GB" dirty="0"/>
              <a:t>             Controller Manager</a:t>
            </a:r>
          </a:p>
          <a:p>
            <a:r>
              <a:rPr lang="en-GB" dirty="0"/>
              <a:t>                    |</a:t>
            </a:r>
          </a:p>
          <a:p>
            <a:r>
              <a:rPr lang="en-GB" dirty="0"/>
              <a:t>                    v</a:t>
            </a:r>
          </a:p>
          <a:p>
            <a:r>
              <a:rPr lang="en-GB" dirty="0"/>
              <a:t>                Scheduler</a:t>
            </a:r>
          </a:p>
          <a:p>
            <a:r>
              <a:rPr lang="en-GB" dirty="0"/>
              <a:t>                    |</a:t>
            </a:r>
          </a:p>
          <a:p>
            <a:r>
              <a:rPr lang="en-GB" dirty="0"/>
              <a:t>                    v</a:t>
            </a:r>
          </a:p>
          <a:p>
            <a:r>
              <a:rPr lang="en-GB" dirty="0"/>
              <a:t>                 </a:t>
            </a:r>
            <a:r>
              <a:rPr lang="en-GB" dirty="0" err="1"/>
              <a:t>kubelet</a:t>
            </a:r>
            <a:r>
              <a:rPr lang="en-GB" dirty="0"/>
              <a:t> (on Node)</a:t>
            </a:r>
          </a:p>
          <a:p>
            <a:r>
              <a:rPr lang="en-GB" dirty="0"/>
              <a:t>                    |</a:t>
            </a:r>
          </a:p>
          <a:p>
            <a:r>
              <a:rPr lang="en-GB" dirty="0"/>
              <a:t>                    v</a:t>
            </a:r>
          </a:p>
          <a:p>
            <a:r>
              <a:rPr lang="en-GB" dirty="0"/>
              <a:t>              Container runtime</a:t>
            </a:r>
          </a:p>
          <a:p>
            <a:r>
              <a:rPr lang="en-GB" dirty="0"/>
              <a:t>                    |</a:t>
            </a:r>
          </a:p>
          <a:p>
            <a:r>
              <a:rPr lang="en-GB" dirty="0"/>
              <a:t>                    v</a:t>
            </a:r>
          </a:p>
          <a:p>
            <a:r>
              <a:rPr lang="en-GB" dirty="0"/>
              <a:t>              Pod running!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84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A821-98AE-ECCB-55E0-9477C1501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FE05-530E-B33D-05CC-366C6A00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 err="1"/>
              <a:t>Kubectl</a:t>
            </a:r>
            <a:r>
              <a:rPr lang="en-GB" sz="2800" dirty="0"/>
              <a:t> commands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FEB052-93D6-A72D-F8FB-275B3ADB2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16945"/>
              </p:ext>
            </p:extLst>
          </p:nvPr>
        </p:nvGraphicFramePr>
        <p:xfrm>
          <a:off x="457200" y="1586809"/>
          <a:ext cx="8435280" cy="4351330"/>
        </p:xfrm>
        <a:graphic>
          <a:graphicData uri="http://schemas.openxmlformats.org/drawingml/2006/table">
            <a:tbl>
              <a:tblPr/>
              <a:tblGrid>
                <a:gridCol w="2811760">
                  <a:extLst>
                    <a:ext uri="{9D8B030D-6E8A-4147-A177-3AD203B41FA5}">
                      <a16:colId xmlns:a16="http://schemas.microsoft.com/office/drawing/2014/main" val="4044704245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2717144381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2904530590"/>
                    </a:ext>
                  </a:extLst>
                </a:gridCol>
              </a:tblGrid>
              <a:tr h="29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Command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Purpose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Easy Analogy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30085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get nodes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Shows all machines (nodes) in the cluster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Checking how many chefs are available in the kitchen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530450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 err="1">
                          <a:latin typeface="Courier New" panose="02070309020205020404" pitchFamily="49" charset="0"/>
                        </a:rPr>
                        <a:t>kubectl</a:t>
                      </a:r>
                      <a:r>
                        <a:rPr lang="en-US" sz="2200" dirty="0">
                          <a:latin typeface="Courier New" panose="02070309020205020404" pitchFamily="49" charset="0"/>
                        </a:rPr>
                        <a:t> get pods</a:t>
                      </a:r>
                      <a:endParaRPr lang="en-US" sz="22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Lists all running Pods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Seeing what dishes are currently being cooked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43458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describe pod &lt;pod-name&gt;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Detailed info about a Pod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Inspecting a dish closely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37674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logs &lt;pod-name&gt;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View app logs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Looking at the recipe notes to see what went wrong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894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202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7C2D7-991B-8320-ECE8-4F62B5EA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B56D-87EC-7BA0-CEDE-EF506D53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 err="1"/>
              <a:t>Kubectl</a:t>
            </a:r>
            <a:r>
              <a:rPr lang="en-GB" sz="2800" dirty="0"/>
              <a:t> commands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268D9A-BE43-5DDE-FFCB-F335A0AAE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821639"/>
              </p:ext>
            </p:extLst>
          </p:nvPr>
        </p:nvGraphicFramePr>
        <p:xfrm>
          <a:off x="457200" y="1586809"/>
          <a:ext cx="8435280" cy="5021890"/>
        </p:xfrm>
        <a:graphic>
          <a:graphicData uri="http://schemas.openxmlformats.org/drawingml/2006/table">
            <a:tbl>
              <a:tblPr/>
              <a:tblGrid>
                <a:gridCol w="2811760">
                  <a:extLst>
                    <a:ext uri="{9D8B030D-6E8A-4147-A177-3AD203B41FA5}">
                      <a16:colId xmlns:a16="http://schemas.microsoft.com/office/drawing/2014/main" val="4044704245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2717144381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2904530590"/>
                    </a:ext>
                  </a:extLst>
                </a:gridCol>
              </a:tblGrid>
              <a:tr h="29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Command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Purpose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Easy Analogy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30085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 err="1">
                          <a:latin typeface="Courier New" panose="02070309020205020404" pitchFamily="49" charset="0"/>
                        </a:rPr>
                        <a:t>kubectl</a:t>
                      </a:r>
                      <a:r>
                        <a:rPr lang="en-US" sz="2200" dirty="0">
                          <a:latin typeface="Courier New" panose="02070309020205020404" pitchFamily="49" charset="0"/>
                        </a:rPr>
                        <a:t> exec -it &lt;pod-name&gt; -- </a:t>
                      </a:r>
                      <a:r>
                        <a:rPr lang="en-US" sz="2200" dirty="0" err="1">
                          <a:latin typeface="Courier New" panose="02070309020205020404" pitchFamily="49" charset="0"/>
                        </a:rPr>
                        <a:t>sh</a:t>
                      </a:r>
                      <a:endParaRPr lang="en-US" sz="22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Open shell inside a Pod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Walking into the kitchen to see what’s happening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530450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apply -f &lt;file&gt;.yaml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Deploy resources defined in YAML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Handing the manager a new recipe card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43458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delete pod &lt;pod-name&gt;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Remove a pod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Throwing away a burnt dish (Kubernetes will make a new one if part of a Deployment)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37674"/>
                  </a:ext>
                </a:extLst>
              </a:tr>
              <a:tr h="516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ourier New" panose="02070309020205020404" pitchFamily="49" charset="0"/>
                        </a:rPr>
                        <a:t>kubectl scale deployment myapp --replicas=3</a:t>
                      </a:r>
                      <a:endParaRPr lang="en-US" sz="22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Increase/decrease Pods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Asking for more dishes to be cooked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894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407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D313-1D8F-A600-FB1E-3BD9B347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525C-0F72-1B8D-DD12-285930C2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Core objects (</a:t>
            </a:r>
            <a:r>
              <a:rPr lang="en-US" sz="2800" dirty="0" err="1"/>
              <a:t>ConfigMaps</a:t>
            </a:r>
            <a:r>
              <a:rPr lang="en-US" sz="2800" dirty="0"/>
              <a:t>, Secrets, </a:t>
            </a:r>
            <a:br>
              <a:rPr lang="en-US" sz="2800" dirty="0"/>
            </a:br>
            <a:r>
              <a:rPr lang="en-US" sz="2800" dirty="0"/>
              <a:t>Persistent Volumes, Namespaces) 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2AAB-48A9-4EDB-A7FC-3724C7AF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Kubernetes lets you separate application code from configuration, secrets, and storage.</a:t>
            </a:r>
          </a:p>
          <a:p>
            <a:r>
              <a:rPr lang="en-US" dirty="0"/>
              <a:t>That way, you don’t rebuild your container image every time you change a setting, and you can keep sensitive data safe.</a:t>
            </a:r>
          </a:p>
          <a:p>
            <a:r>
              <a:rPr lang="en-US" dirty="0"/>
              <a:t>Kubernetes employs several core objects to manage and orchestrate containerized applications. </a:t>
            </a:r>
          </a:p>
          <a:p>
            <a:r>
              <a:rPr lang="en-US" dirty="0"/>
              <a:t>Among these, </a:t>
            </a:r>
            <a:r>
              <a:rPr lang="en-US" dirty="0" err="1"/>
              <a:t>ConfigMaps</a:t>
            </a:r>
            <a:r>
              <a:rPr lang="en-US" dirty="0"/>
              <a:t>, Secrets, Persistent Volumes, and Namespaces are fundamental for configuration, security, storage, and resource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24031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E589-6427-14EC-E592-8827EADF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B1A3-E2F2-BC50-F0BA-7E8B155E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Core objects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E880-16DF-3778-80AD-B09C9906E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ConfigMaps</a:t>
            </a:r>
            <a:r>
              <a:rPr lang="en-US" dirty="0"/>
              <a:t> is a configuration file cabinet that apps can read from.</a:t>
            </a:r>
          </a:p>
          <a:p>
            <a:r>
              <a:rPr lang="en-US" dirty="0"/>
              <a:t>Secret helps to keep sensitive data out of your source code.</a:t>
            </a:r>
          </a:p>
          <a:p>
            <a:r>
              <a:rPr lang="en-US" dirty="0"/>
              <a:t>Persistent Volumes represent abstract pieces of storage in a Kubernetes cluster, provisioned either statically by an administrator or dynamically through a </a:t>
            </a:r>
            <a:r>
              <a:rPr lang="en-US" dirty="0" err="1"/>
              <a:t>StorageClass</a:t>
            </a:r>
            <a:r>
              <a:rPr lang="en-US" dirty="0"/>
              <a:t>. </a:t>
            </a:r>
          </a:p>
          <a:p>
            <a:r>
              <a:rPr lang="en-US" dirty="0"/>
              <a:t>PVs are independent of the Pod lifecycle, meaning the data they hold persists even if the Pod that uses them is terminated.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58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AA4C-EBB4-9572-2537-E9B66B43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EAA7-D0CB-8429-210D-B163BE73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800" dirty="0"/>
              <a:t>Core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1626-F4D7-6C64-74E4-D0FAA347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Namespaces provide a mechanism for isolating resources within a single Kubernetes cluster. </a:t>
            </a:r>
          </a:p>
          <a:p>
            <a:r>
              <a:rPr lang="en-US" dirty="0"/>
              <a:t>They are used to logically divide cluster resources, enabling multi-tenancy and better organization. </a:t>
            </a:r>
          </a:p>
          <a:p>
            <a:r>
              <a:rPr lang="en-US" dirty="0"/>
              <a:t>Namespaces allow for resource quotas, access control policies, and prevent naming collisions between different teams or applications within the same cluster. </a:t>
            </a:r>
          </a:p>
          <a:p>
            <a:r>
              <a:rPr lang="en-US" dirty="0"/>
              <a:t>Kubernetes starts with several default namespaces, including default, </a:t>
            </a:r>
            <a:r>
              <a:rPr lang="en-US" dirty="0" err="1"/>
              <a:t>kube</a:t>
            </a:r>
            <a:r>
              <a:rPr lang="en-US" dirty="0"/>
              <a:t>-system, </a:t>
            </a:r>
            <a:r>
              <a:rPr lang="en-US" dirty="0" err="1"/>
              <a:t>kube</a:t>
            </a:r>
            <a:r>
              <a:rPr lang="en-US" dirty="0"/>
              <a:t>-public, and </a:t>
            </a:r>
            <a:r>
              <a:rPr lang="en-US" dirty="0" err="1"/>
              <a:t>kube</a:t>
            </a:r>
            <a:r>
              <a:rPr lang="en-US" dirty="0"/>
              <a:t>-node-lease.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65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13D2-BA7A-3C4B-83D9-262B67C1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11948-6310-BA0C-51E3-E4CCA649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/>
          </a:p>
          <a:p>
            <a:pPr marL="0" indent="0" algn="ctr">
              <a:buNone/>
            </a:pPr>
            <a:r>
              <a:rPr lang="en-US" sz="4000" b="1" dirty="0"/>
              <a:t>Minikube </a:t>
            </a:r>
          </a:p>
          <a:p>
            <a:pPr marL="0" indent="0" algn="ctr">
              <a:buNone/>
            </a:pPr>
            <a:r>
              <a:rPr lang="en-US" sz="4000" b="1" dirty="0"/>
              <a:t>vs </a:t>
            </a:r>
          </a:p>
          <a:p>
            <a:pPr marL="0" indent="0" algn="ctr">
              <a:buNone/>
            </a:pPr>
            <a:r>
              <a:rPr lang="en-US" sz="4000" b="1" dirty="0"/>
              <a:t>Kind </a:t>
            </a:r>
          </a:p>
          <a:p>
            <a:pPr marL="0" indent="0" algn="ctr">
              <a:buNone/>
            </a:pPr>
            <a:r>
              <a:rPr lang="en-US" sz="4000" b="1" dirty="0"/>
              <a:t>vs </a:t>
            </a:r>
          </a:p>
          <a:p>
            <a:pPr marL="0" indent="0" algn="ctr">
              <a:buNone/>
            </a:pPr>
            <a:r>
              <a:rPr lang="en-US" sz="4000" b="1" dirty="0"/>
              <a:t>Cloud clusters</a:t>
            </a:r>
            <a:endParaRPr lang="en-GB" sz="4000" b="1" dirty="0"/>
          </a:p>
        </p:txBody>
      </p:sp>
    </p:spTree>
    <p:extLst>
      <p:ext uri="{BB962C8B-B14F-4D97-AF65-F5344CB8AC3E}">
        <p14:creationId xmlns:p14="http://schemas.microsoft.com/office/powerpoint/2010/main" val="3182593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7D54A-011E-5B75-4838-9E8BE8A0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85D0-AE85-71A7-DA4E-A4EA5E65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Minikube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EB41C-EC18-924A-F591-46050AEBC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Minikube is a widely adopted tool designed to run a single-node Kubernetes cluster on various operating systems, including macOS, Linux, and Windows. </a:t>
            </a:r>
          </a:p>
          <a:p>
            <a:r>
              <a:rPr lang="en-US" dirty="0"/>
              <a:t>It provides a simple way for developers to run Kubernetes locally and is ideal for testing applications in a controlled environment. </a:t>
            </a:r>
          </a:p>
          <a:p>
            <a:r>
              <a:rPr lang="en-US" dirty="0"/>
              <a:t>Minikube supports multiple hypervisors such as VirtualBox, VMware, and </a:t>
            </a:r>
            <a:r>
              <a:rPr lang="en-US" dirty="0" err="1"/>
              <a:t>HyperKit</a:t>
            </a:r>
            <a:r>
              <a:rPr lang="en-US" dirty="0"/>
              <a:t>, making it flexible for different infrastructures. </a:t>
            </a:r>
          </a:p>
        </p:txBody>
      </p:sp>
    </p:spTree>
    <p:extLst>
      <p:ext uri="{BB962C8B-B14F-4D97-AF65-F5344CB8AC3E}">
        <p14:creationId xmlns:p14="http://schemas.microsoft.com/office/powerpoint/2010/main" val="1465087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BB830-A22F-9D0D-E479-F1E968E6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260B-203D-5F5D-DAA4-E7F56254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Minikube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BA2D-DC46-720F-17C1-874EE836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Additionally, it offers features like the ability to enable or disable specific Kubernetes components, which allows developers to tailor their environment to closely match production settings. </a:t>
            </a:r>
          </a:p>
          <a:p>
            <a:r>
              <a:rPr lang="en-US" dirty="0"/>
              <a:t>This flexibility is crucial for debugging and ensuring that applications behave as expected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3048952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83C2-B593-87E0-7A82-45F0BF95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AD09-E0E4-3AC5-64B6-1BDD0C7E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Kind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13563-504E-E294-7507-AECA9502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Kind, short for Kubernetes in Docker, is another option that allows users to create Kubernetes clusters using Docker containers as nodes. </a:t>
            </a:r>
          </a:p>
          <a:p>
            <a:r>
              <a:rPr lang="en-US" dirty="0"/>
              <a:t>This approach adheres to containerization principles, enabling quick setup and teardown of clusters. </a:t>
            </a:r>
          </a:p>
          <a:p>
            <a:r>
              <a:rPr lang="en-US" dirty="0"/>
              <a:t>Kind is particularly useful for testing Kubernetes itself and is favored by CI/CD pipelines. </a:t>
            </a:r>
          </a:p>
        </p:txBody>
      </p:sp>
    </p:spTree>
    <p:extLst>
      <p:ext uri="{BB962C8B-B14F-4D97-AF65-F5344CB8AC3E}">
        <p14:creationId xmlns:p14="http://schemas.microsoft.com/office/powerpoint/2010/main" val="4131426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526F-7E43-E540-3157-0E987708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7A7D-FC55-3AC8-2332-31238C632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Kind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68886-5649-2762-D5DB-0535594A5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Its ability to run clusters in Docker means that developers can easily replicate their production environments in a lightweight manner, making it an excellent choice for continuous integration workflows.</a:t>
            </a:r>
          </a:p>
          <a:p>
            <a:r>
              <a:rPr lang="en-US" dirty="0"/>
              <a:t>Furthermore, Kind supports multi-node clusters, which can be beneficial for simulating more complex scenarios that developers may encounter in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34481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1F104-81C7-8E17-6B23-F1E7E247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1FC6-9D4D-9F3C-E736-64168D37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/>
              <a:t>Cloud Cluster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8F200-AFC3-E19C-02B2-7764E1415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managed Kubernetes clusters offered by cloud providers (Google, AWS, Azure).</a:t>
            </a:r>
          </a:p>
          <a:p>
            <a:r>
              <a:rPr lang="en-US" dirty="0"/>
              <a:t>Provider runs and maintains the control plane you just create worker nodes and deploy apps</a:t>
            </a:r>
          </a:p>
          <a:p>
            <a:r>
              <a:rPr lang="en-US" dirty="0"/>
              <a:t>Highly scalable, reliable, production-grade</a:t>
            </a:r>
          </a:p>
          <a:p>
            <a:r>
              <a:rPr lang="en-US" dirty="0"/>
              <a:t>No need to manage master nodes</a:t>
            </a:r>
          </a:p>
          <a:p>
            <a:r>
              <a:rPr lang="en-US" dirty="0"/>
              <a:t>Integrates with cloud storage, load balancers</a:t>
            </a:r>
          </a:p>
          <a:p>
            <a:r>
              <a:rPr lang="en-US" dirty="0"/>
              <a:t>Cost money (pay for nodes and cloud resources)</a:t>
            </a:r>
          </a:p>
          <a:p>
            <a:r>
              <a:rPr lang="en-US" dirty="0"/>
              <a:t>Slightly more complex to set up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1109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D21F-6733-CCBF-7C4B-E28B006C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B2D4-81DB-08A8-8486-410821CAE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36912"/>
            <a:ext cx="8147248" cy="20448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800" b="1" dirty="0">
                <a:solidFill>
                  <a:srgbClr val="000066"/>
                </a:solidFill>
              </a:rPr>
              <a:t>Practical</a:t>
            </a:r>
          </a:p>
          <a:p>
            <a:pPr marL="0" indent="0" algn="ctr">
              <a:buNone/>
            </a:pPr>
            <a:r>
              <a:rPr lang="en-GB" sz="4800" b="1" dirty="0"/>
              <a:t>Session</a:t>
            </a:r>
          </a:p>
        </p:txBody>
      </p:sp>
    </p:spTree>
    <p:extLst>
      <p:ext uri="{BB962C8B-B14F-4D97-AF65-F5344CB8AC3E}">
        <p14:creationId xmlns:p14="http://schemas.microsoft.com/office/powerpoint/2010/main" val="526492401"/>
      </p:ext>
    </p:extLst>
  </p:cSld>
  <p:clrMapOvr>
    <a:masterClrMapping/>
  </p:clrMapOvr>
</p:sld>
</file>

<file path=ppt/theme/theme1.xml><?xml version="1.0" encoding="utf-8"?>
<a:theme xmlns:a="http://schemas.openxmlformats.org/drawingml/2006/main" name="Melodia Coding  PPT Templat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Melodia Coding  PPT Template</Template>
  <TotalTime>2798</TotalTime>
  <Words>1243</Words>
  <Application>Microsoft Office PowerPoint</Application>
  <PresentationFormat>On-screen Show (4:3)</PresentationFormat>
  <Paragraphs>142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Melodia Coding  PPT Template</vt:lpstr>
      <vt:lpstr>PowerPoint Presentation</vt:lpstr>
      <vt:lpstr>Recap on Day 3</vt:lpstr>
      <vt:lpstr>Today</vt:lpstr>
      <vt:lpstr>Kubernetes fundamentals</vt:lpstr>
      <vt:lpstr>Kubernetes fundamentals</vt:lpstr>
      <vt:lpstr>Kubernetes fundamentals</vt:lpstr>
      <vt:lpstr>Kubernetes fundamentals</vt:lpstr>
      <vt:lpstr>Kubernetes fundamentals</vt:lpstr>
      <vt:lpstr>Kubernetes fundamentals</vt:lpstr>
      <vt:lpstr>Introduction to kubectl commands and  Kubernetes cluster architecture </vt:lpstr>
      <vt:lpstr>Introduction to kubectl commands and  Kubernetes cluster architecture </vt:lpstr>
      <vt:lpstr>Introduction to kubectl commands and  Kubernetes cluster architecture </vt:lpstr>
      <vt:lpstr>Kubectl commands</vt:lpstr>
      <vt:lpstr>Kubectl commands</vt:lpstr>
      <vt:lpstr>Core objects (ConfigMaps, Secrets,  Persistent Volumes, Namespaces) </vt:lpstr>
      <vt:lpstr>Core objects</vt:lpstr>
      <vt:lpstr>Core Objects</vt:lpstr>
      <vt:lpstr>PowerPoint Presentation</vt:lpstr>
      <vt:lpstr>Minikube</vt:lpstr>
      <vt:lpstr>Minikube</vt:lpstr>
      <vt:lpstr>Kind</vt:lpstr>
      <vt:lpstr>Kind</vt:lpstr>
      <vt:lpstr>Cloud Cluster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Javaplus</dc:creator>
  <cp:lastModifiedBy>Delice</cp:lastModifiedBy>
  <cp:revision>34</cp:revision>
  <dcterms:created xsi:type="dcterms:W3CDTF">2019-10-31T22:06:59Z</dcterms:created>
  <dcterms:modified xsi:type="dcterms:W3CDTF">2025-09-22T15:36:14Z</dcterms:modified>
</cp:coreProperties>
</file>